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Nunito"/>
      <p:regular r:id="rId29"/>
      <p:bold r:id="rId30"/>
      <p:italic r:id="rId31"/>
      <p:boldItalic r:id="rId32"/>
    </p:embeddedFont>
    <p:embeddedFont>
      <p:font typeface="Maven Pro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6.xml"/><Relationship Id="rId33" Type="http://schemas.openxmlformats.org/officeDocument/2006/relationships/font" Target="fonts/MavenPro-regular.fntdata"/><Relationship Id="rId10" Type="http://schemas.openxmlformats.org/officeDocument/2006/relationships/slide" Target="slides/slide5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MavenPr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00c4eabf3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00c4eabf3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0e2b276f5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0e2b276f5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0f4267848b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0f4267848b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0fb17801a3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0fb17801a3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0f4267848b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0f4267848b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e2b276f5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0e2b276f5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0f426784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0f426784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0f4267848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0f4267848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0e2b276f5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0e2b276f5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b17801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b17801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0fb17801a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0fb17801a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0fb17801a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0fb17801a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0fb17801a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0fb17801a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0fb17801a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0fb17801a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0fb17801a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0fb17801a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01a5e428e6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01a5e428e6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0e2b276f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0e2b276f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01a5e428e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01a5e428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100c4eabf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100c4eabf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01a5e428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01a5e428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cross-sectional area, reflective index and mass (missing critical data)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01a5e428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01a5e428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100c4eab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100c4eab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SPACE DEBRIS GENERATION AND ORBITAL PROPAGATION PREDICTION USING AI/ML 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Case Study on Real-World Data Limitations in Orbital Decay Predictions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4875" y="4362225"/>
            <a:ext cx="1294602" cy="72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4728" y="4486450"/>
            <a:ext cx="1240798" cy="4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 Team</a:t>
            </a:r>
            <a:endParaRPr/>
          </a:p>
        </p:txBody>
      </p:sp>
      <p:sp>
        <p:nvSpPr>
          <p:cNvPr id="286" name="Google Shape;286;p14"/>
          <p:cNvSpPr txBox="1"/>
          <p:nvPr>
            <p:ph idx="1" type="subTitle"/>
          </p:nvPr>
        </p:nvSpPr>
        <p:spPr>
          <a:xfrm>
            <a:off x="824000" y="3266100"/>
            <a:ext cx="42555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Truc Nguyen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Ravindu Guruge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Ashwin Sreejith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Vivek Aggarwal</a:t>
            </a:r>
            <a:endParaRPr/>
          </a:p>
        </p:txBody>
      </p:sp>
      <p:sp>
        <p:nvSpPr>
          <p:cNvPr id="287" name="Google Shape;287;p14"/>
          <p:cNvSpPr txBox="1"/>
          <p:nvPr>
            <p:ph idx="1" type="subTitle"/>
          </p:nvPr>
        </p:nvSpPr>
        <p:spPr>
          <a:xfrm>
            <a:off x="5352825" y="3266100"/>
            <a:ext cx="42555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Industry Supervisor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Dr. Abhiram Jayan Nair (CEO ERETS)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293" name="Google Shape;293;p15"/>
          <p:cNvSpPr txBox="1"/>
          <p:nvPr>
            <p:ph type="title"/>
          </p:nvPr>
        </p:nvSpPr>
        <p:spPr>
          <a:xfrm>
            <a:off x="110975" y="4785550"/>
            <a:ext cx="5857800" cy="2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40"/>
              <a:t>Truc</a:t>
            </a:r>
            <a:endParaRPr sz="1240"/>
          </a:p>
        </p:txBody>
      </p:sp>
      <p:sp>
        <p:nvSpPr>
          <p:cNvPr id="294" name="Google Shape;294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type="title"/>
          </p:nvPr>
        </p:nvSpPr>
        <p:spPr>
          <a:xfrm>
            <a:off x="1303800" y="598575"/>
            <a:ext cx="7030500" cy="5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300" name="Google Shape;300;p16"/>
          <p:cNvSpPr txBox="1"/>
          <p:nvPr>
            <p:ph idx="1" type="body"/>
          </p:nvPr>
        </p:nvSpPr>
        <p:spPr>
          <a:xfrm>
            <a:off x="1303800" y="1257575"/>
            <a:ext cx="4643400" cy="13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ERETS Space Ltd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HQ: London, UK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Mission: Space Debris Management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Focus: Debris tracking and prediction using AI/ML</a:t>
            </a:r>
            <a:endParaRPr/>
          </a:p>
        </p:txBody>
      </p:sp>
      <p:pic>
        <p:nvPicPr>
          <p:cNvPr descr="File:Debris-star48 3.jpg - Wikimedia Commons" id="301" name="Google Shape;3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2681575"/>
            <a:ext cx="3195035" cy="223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Externial Tank after it's jettisoning from Space Shuttle ..." id="302" name="Google Shape;3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1910" y="2681575"/>
            <a:ext cx="3382866" cy="2236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talog of Earth Satellite Orbits" id="303" name="Google Shape;30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2526" y="639450"/>
            <a:ext cx="1956499" cy="176419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>
            <p:ph type="title"/>
          </p:nvPr>
        </p:nvSpPr>
        <p:spPr>
          <a:xfrm>
            <a:off x="1303800" y="598575"/>
            <a:ext cx="7030500" cy="7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310" name="Google Shape;310;p17"/>
          <p:cNvSpPr txBox="1"/>
          <p:nvPr>
            <p:ph idx="1" type="body"/>
          </p:nvPr>
        </p:nvSpPr>
        <p:spPr>
          <a:xfrm>
            <a:off x="1303800" y="14262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Initial Goal: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/>
              <a:t>AI/ML system for debris prediction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Adjusted Focus: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/>
              <a:t>Comprehensive case study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/>
              <a:t>Strategic insights for future development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FFFFF"/>
                </a:solidFill>
              </a:rPr>
              <a:t>Data Collection &amp; Preprocessing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7" name="Google Shape;317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>
            <p:ph type="title"/>
          </p:nvPr>
        </p:nvSpPr>
        <p:spPr>
          <a:xfrm>
            <a:off x="1303800" y="598575"/>
            <a:ext cx="7030500" cy="5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Collection Process</a:t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961050" y="2154625"/>
            <a:ext cx="1581300" cy="96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Website</a:t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3781350" y="2154625"/>
            <a:ext cx="1581300" cy="96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Website</a:t>
            </a:r>
            <a:endParaRPr/>
          </a:p>
        </p:txBody>
      </p:sp>
      <p:cxnSp>
        <p:nvCxnSpPr>
          <p:cNvPr id="325" name="Google Shape;325;p19"/>
          <p:cNvCxnSpPr>
            <a:stCxn id="323" idx="3"/>
            <a:endCxn id="324" idx="1"/>
          </p:cNvCxnSpPr>
          <p:nvPr/>
        </p:nvCxnSpPr>
        <p:spPr>
          <a:xfrm>
            <a:off x="2542350" y="2638675"/>
            <a:ext cx="12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19"/>
          <p:cNvSpPr/>
          <p:nvPr/>
        </p:nvSpPr>
        <p:spPr>
          <a:xfrm>
            <a:off x="6601650" y="2154625"/>
            <a:ext cx="1581300" cy="96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Json</a:t>
            </a:r>
            <a:endParaRPr/>
          </a:p>
        </p:txBody>
      </p:sp>
      <p:cxnSp>
        <p:nvCxnSpPr>
          <p:cNvPr id="327" name="Google Shape;327;p19"/>
          <p:cNvCxnSpPr>
            <a:stCxn id="324" idx="3"/>
            <a:endCxn id="326" idx="1"/>
          </p:cNvCxnSpPr>
          <p:nvPr/>
        </p:nvCxnSpPr>
        <p:spPr>
          <a:xfrm>
            <a:off x="5362650" y="2638675"/>
            <a:ext cx="12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Data We Collected</a:t>
            </a:r>
            <a:endParaRPr/>
          </a:p>
        </p:txBody>
      </p:sp>
      <p:sp>
        <p:nvSpPr>
          <p:cNvPr id="334" name="Google Shape;334;p20"/>
          <p:cNvSpPr txBox="1"/>
          <p:nvPr>
            <p:ph idx="1" type="body"/>
          </p:nvPr>
        </p:nvSpPr>
        <p:spPr>
          <a:xfrm>
            <a:off x="1303800" y="1300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Satellite Catalog (SATCAT)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Basic object information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Launch dates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Country of origin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General Perturbations (GP) Data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Detailed orbit information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Object locations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Movement patterns</a:t>
            </a:r>
            <a:endParaRPr/>
          </a:p>
        </p:txBody>
      </p:sp>
      <p:sp>
        <p:nvSpPr>
          <p:cNvPr id="335" name="Google Shape;335;p2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Cleaning &amp; Preprocessing</a:t>
            </a:r>
            <a:endParaRPr/>
          </a:p>
        </p:txBody>
      </p:sp>
      <p:sp>
        <p:nvSpPr>
          <p:cNvPr id="341" name="Google Shape;341;p21"/>
          <p:cNvSpPr txBox="1"/>
          <p:nvPr>
            <p:ph idx="1" type="body"/>
          </p:nvPr>
        </p:nvSpPr>
        <p:spPr>
          <a:xfrm>
            <a:off x="693675" y="1597875"/>
            <a:ext cx="8138700" cy="30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/>
              <a:t>Missing values in DECAY and omm_data → Filtered out incomplete records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/>
              <a:t>Columns with identical values but different names → Identified and removed based on manual inspection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/>
              <a:t>Columns with single unique value → Removed as non-informative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/>
              <a:t>Time Analysis Required → Created LIFETIME_DAYS from DECAY and LAUNCH dates</a:t>
            </a:r>
            <a:endParaRPr/>
          </a:p>
        </p:txBody>
      </p:sp>
      <p:sp>
        <p:nvSpPr>
          <p:cNvPr id="342" name="Google Shape;342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Models &amp; Technical Approach</a:t>
            </a:r>
            <a:endParaRPr/>
          </a:p>
        </p:txBody>
      </p:sp>
      <p:sp>
        <p:nvSpPr>
          <p:cNvPr id="348" name="Google Shape;348;p2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9" name="Google Shape;349;p22"/>
          <p:cNvSpPr txBox="1"/>
          <p:nvPr>
            <p:ph type="title"/>
          </p:nvPr>
        </p:nvSpPr>
        <p:spPr>
          <a:xfrm>
            <a:off x="110975" y="4785550"/>
            <a:ext cx="5857800" cy="2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40"/>
              <a:t>Ashwin</a:t>
            </a:r>
            <a:endParaRPr sz="124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Principal Component Analysis</a:t>
            </a:r>
            <a:endParaRPr/>
          </a:p>
        </p:txBody>
      </p:sp>
      <p:sp>
        <p:nvSpPr>
          <p:cNvPr id="355" name="Google Shape;355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Total 20 features (Including OMM)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Complicated relationships between features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Dimensionality reduction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PCA chosen features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“</a:t>
            </a:r>
            <a:r>
              <a:rPr lang="en-GB"/>
              <a:t>APOGEE, PERIOD, INCLINATION,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OBJECT_TYPE, PERIGEE, RCS_TYPE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EPHEMERIS_TYPE”</a:t>
            </a:r>
            <a:endParaRPr/>
          </a:p>
        </p:txBody>
      </p:sp>
      <p:pic>
        <p:nvPicPr>
          <p:cNvPr id="356" name="Google Shape;3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3374" y="1990050"/>
            <a:ext cx="3685925" cy="23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4"/>
          <p:cNvSpPr txBox="1"/>
          <p:nvPr>
            <p:ph type="title"/>
          </p:nvPr>
        </p:nvSpPr>
        <p:spPr>
          <a:xfrm>
            <a:off x="1303800" y="755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PC1 Vs PC2 &amp; Feature Importance Heatmap</a:t>
            </a:r>
            <a:endParaRPr/>
          </a:p>
        </p:txBody>
      </p:sp>
      <p:sp>
        <p:nvSpPr>
          <p:cNvPr id="363" name="Google Shape;363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50" y="1517788"/>
            <a:ext cx="3619799" cy="289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200" y="1537538"/>
            <a:ext cx="3746875" cy="285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Regression Approach (Statistical Models)</a:t>
            </a:r>
            <a:endParaRPr/>
          </a:p>
        </p:txBody>
      </p:sp>
      <p:sp>
        <p:nvSpPr>
          <p:cNvPr id="372" name="Google Shape;372;p25"/>
          <p:cNvSpPr txBox="1"/>
          <p:nvPr>
            <p:ph idx="1" type="body"/>
          </p:nvPr>
        </p:nvSpPr>
        <p:spPr>
          <a:xfrm>
            <a:off x="1303800" y="1552425"/>
            <a:ext cx="34860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Trained 7 regression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/>
              <a:t>Random Forest, Gradient Boosting, K-Nearest Neighbors, Elastic Net, Ridge, Lasso and Polynomial regression.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Best performance :- Random Forest (</a:t>
            </a:r>
            <a:r>
              <a:rPr lang="en-GB"/>
              <a:t>RMS Error</a:t>
            </a:r>
            <a:r>
              <a:rPr lang="en-GB"/>
              <a:t> : 6.4 years)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350" y="1669225"/>
            <a:ext cx="4117625" cy="2456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Classification Approach</a:t>
            </a:r>
            <a:endParaRPr/>
          </a:p>
        </p:txBody>
      </p:sp>
      <p:pic>
        <p:nvPicPr>
          <p:cNvPr id="380" name="Google Shape;3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475" y="1597875"/>
            <a:ext cx="5807325" cy="303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Multi-Layer Perceptron Regressor (MLP)</a:t>
            </a:r>
            <a:endParaRPr/>
          </a:p>
        </p:txBody>
      </p:sp>
      <p:sp>
        <p:nvSpPr>
          <p:cNvPr id="387" name="Google Shape;387;p27"/>
          <p:cNvSpPr txBox="1"/>
          <p:nvPr>
            <p:ph idx="1" type="body"/>
          </p:nvPr>
        </p:nvSpPr>
        <p:spPr>
          <a:xfrm>
            <a:off x="4393050" y="1519700"/>
            <a:ext cx="4658100" cy="35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trials with an MLP Regressor model as a benchmark.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feedforward with default configurations.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Enhancement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Activation functions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Strategy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Evaluation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88" name="Google Shape;3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150" y="1734125"/>
            <a:ext cx="3816349" cy="23111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2400000" dist="95250">
              <a:srgbClr val="000000">
                <a:alpha val="30000"/>
              </a:srgbClr>
            </a:outerShdw>
          </a:effectLst>
        </p:spPr>
      </p:pic>
      <p:sp>
        <p:nvSpPr>
          <p:cNvPr id="389" name="Google Shape;389;p27"/>
          <p:cNvSpPr txBox="1"/>
          <p:nvPr/>
        </p:nvSpPr>
        <p:spPr>
          <a:xfrm>
            <a:off x="750450" y="4045250"/>
            <a:ext cx="26514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Flow diagram for a basic MLP</a:t>
            </a:r>
            <a:endParaRPr i="1"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4572000" y="2067113"/>
            <a:ext cx="279900" cy="11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4572000" y="2571738"/>
            <a:ext cx="279900" cy="11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4572000" y="3362688"/>
            <a:ext cx="279900" cy="11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4572000" y="3601488"/>
            <a:ext cx="279900" cy="11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4" name="Google Shape;394;p27"/>
          <p:cNvSpPr/>
          <p:nvPr/>
        </p:nvSpPr>
        <p:spPr>
          <a:xfrm>
            <a:off x="4572000" y="3840288"/>
            <a:ext cx="279900" cy="11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5" name="Google Shape;395;p2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6" name="Google Shape;396;p27"/>
          <p:cNvSpPr txBox="1"/>
          <p:nvPr>
            <p:ph type="title"/>
          </p:nvPr>
        </p:nvSpPr>
        <p:spPr>
          <a:xfrm>
            <a:off x="110975" y="4785550"/>
            <a:ext cx="5857800" cy="2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40"/>
              <a:t>Vivek</a:t>
            </a:r>
            <a:endParaRPr sz="1240"/>
          </a:p>
        </p:txBody>
      </p:sp>
      <p:sp>
        <p:nvSpPr>
          <p:cNvPr id="397" name="Google Shape;397;p27"/>
          <p:cNvSpPr txBox="1"/>
          <p:nvPr/>
        </p:nvSpPr>
        <p:spPr>
          <a:xfrm>
            <a:off x="3549350" y="4210725"/>
            <a:ext cx="5077200" cy="8022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Validation score   -&gt; 0.44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Mean R-squared     -&gt; 0.0886 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Standard Deviation -&gt;(+/- 0.5253)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Tensorflow Implementation</a:t>
            </a:r>
            <a:endParaRPr/>
          </a:p>
        </p:txBody>
      </p:sp>
      <p:sp>
        <p:nvSpPr>
          <p:cNvPr id="403" name="Google Shape;403;p28"/>
          <p:cNvSpPr txBox="1"/>
          <p:nvPr>
            <p:ph idx="1" type="body"/>
          </p:nvPr>
        </p:nvSpPr>
        <p:spPr>
          <a:xfrm>
            <a:off x="792075" y="1446300"/>
            <a:ext cx="7594200" cy="2493900"/>
          </a:xfrm>
          <a:prstGeom prst="rect">
            <a:avLst/>
          </a:prstGeom>
          <a:solidFill>
            <a:srgbClr val="00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 Overview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Architecture using Keras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Several dense layers with different sizes—256, 128, 64, 32, and 16 neurons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Model Building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Techniques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ReduceLROnPlateau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Size.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RandomSearch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Adam optimizer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04" name="Google Shape;404;p28"/>
          <p:cNvSpPr txBox="1"/>
          <p:nvPr/>
        </p:nvSpPr>
        <p:spPr>
          <a:xfrm rot="-1258973">
            <a:off x="85855" y="1273959"/>
            <a:ext cx="1197189" cy="701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 u="sng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5" name="Google Shape;405;p28"/>
          <p:cNvSpPr/>
          <p:nvPr/>
        </p:nvSpPr>
        <p:spPr>
          <a:xfrm rot="601076">
            <a:off x="6432081" y="230551"/>
            <a:ext cx="1902202" cy="764638"/>
          </a:xfrm>
          <a:prstGeom prst="wedgeEllipseCallout">
            <a:avLst>
              <a:gd fmla="val -52533" name="adj1"/>
              <a:gd fmla="val 7656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200" u="sng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Need</a:t>
            </a:r>
            <a:r>
              <a:rPr b="1" i="1" lang="en-GB"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?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6" name="Google Shape;406;p2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7" name="Google Shape;407;p28"/>
          <p:cNvSpPr txBox="1"/>
          <p:nvPr/>
        </p:nvSpPr>
        <p:spPr>
          <a:xfrm>
            <a:off x="4276225" y="4115800"/>
            <a:ext cx="4175100" cy="9993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Mean Absolute Error: 1454.66 (~4 years)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R-squared Score: 0.6816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 txBox="1"/>
          <p:nvPr/>
        </p:nvSpPr>
        <p:spPr>
          <a:xfrm>
            <a:off x="1199750" y="624475"/>
            <a:ext cx="35931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For a visual understanding</a:t>
            </a:r>
            <a:endParaRPr b="1" sz="2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413" name="Google Shape;413;p29"/>
          <p:cNvPicPr preferRelativeResize="0"/>
          <p:nvPr/>
        </p:nvPicPr>
        <p:blipFill rotWithShape="1">
          <a:blip r:embed="rId3">
            <a:alphaModFix/>
          </a:blip>
          <a:srcRect b="0" l="784" r="1137" t="0"/>
          <a:stretch/>
        </p:blipFill>
        <p:spPr>
          <a:xfrm>
            <a:off x="0" y="1421250"/>
            <a:ext cx="5130249" cy="3534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2400000" dist="95250">
              <a:srgbClr val="000000">
                <a:alpha val="30000"/>
              </a:srgbClr>
            </a:outerShdw>
          </a:effectLst>
        </p:spPr>
      </p:pic>
      <p:pic>
        <p:nvPicPr>
          <p:cNvPr id="414" name="Google Shape;414;p29"/>
          <p:cNvPicPr preferRelativeResize="0"/>
          <p:nvPr/>
        </p:nvPicPr>
        <p:blipFill rotWithShape="1">
          <a:blip r:embed="rId4">
            <a:alphaModFix/>
          </a:blip>
          <a:srcRect b="0" l="0" r="5589" t="3250"/>
          <a:stretch/>
        </p:blipFill>
        <p:spPr>
          <a:xfrm>
            <a:off x="5255575" y="2132318"/>
            <a:ext cx="3888425" cy="236943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2400000" dist="95250">
              <a:srgbClr val="000000">
                <a:alpha val="30000"/>
              </a:srgbClr>
            </a:outerShdw>
          </a:effectLst>
        </p:spPr>
      </p:pic>
      <p:sp>
        <p:nvSpPr>
          <p:cNvPr id="415" name="Google Shape;415;p2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Results, Challenges &amp; Future Work</a:t>
            </a:r>
            <a:endParaRPr/>
          </a:p>
        </p:txBody>
      </p:sp>
      <p:sp>
        <p:nvSpPr>
          <p:cNvPr id="421" name="Google Shape;421;p3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30"/>
          <p:cNvSpPr txBox="1"/>
          <p:nvPr>
            <p:ph type="title"/>
          </p:nvPr>
        </p:nvSpPr>
        <p:spPr>
          <a:xfrm>
            <a:off x="110975" y="4785550"/>
            <a:ext cx="5857800" cy="2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40"/>
              <a:t>Ravindu</a:t>
            </a:r>
            <a:endParaRPr sz="124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Evaluation Metrics</a:t>
            </a:r>
            <a:endParaRPr/>
          </a:p>
        </p:txBody>
      </p:sp>
      <p:sp>
        <p:nvSpPr>
          <p:cNvPr id="428" name="Google Shape;428;p31"/>
          <p:cNvSpPr txBox="1"/>
          <p:nvPr>
            <p:ph idx="1" type="body"/>
          </p:nvPr>
        </p:nvSpPr>
        <p:spPr>
          <a:xfrm>
            <a:off x="1303800" y="1428050"/>
            <a:ext cx="7030500" cy="3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Regression Models Performance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i="1" lang="en-GB"/>
              <a:t>Random Forest</a:t>
            </a:r>
            <a:r>
              <a:rPr lang="en-GB"/>
              <a:t>: RMSE of 2,335.84 days (~ 6.4 years), </a:t>
            </a:r>
            <a:r>
              <a:rPr i="1" lang="en-GB"/>
              <a:t>R</a:t>
            </a:r>
            <a:r>
              <a:rPr baseline="30000" i="1" lang="en-GB"/>
              <a:t>2</a:t>
            </a:r>
            <a:r>
              <a:rPr lang="en-GB"/>
              <a:t> = 0.7134.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Neural Network slightly underperformed; RMSE of ~6.8 years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Ridge and Lasso had very low </a:t>
            </a:r>
            <a:r>
              <a:rPr i="1" lang="en-GB"/>
              <a:t>R</a:t>
            </a:r>
            <a:r>
              <a:rPr baseline="30000" i="1" lang="en-GB"/>
              <a:t>2</a:t>
            </a:r>
            <a:r>
              <a:rPr lang="en-GB"/>
              <a:t>. (~ ⅓ Random forest’s R</a:t>
            </a:r>
            <a:r>
              <a:rPr baseline="30000" lang="en-GB"/>
              <a:t>2</a:t>
            </a:r>
            <a:r>
              <a:rPr lang="en-GB"/>
              <a:t>)</a:t>
            </a:r>
            <a:endParaRPr/>
          </a:p>
        </p:txBody>
      </p:sp>
      <p:pic>
        <p:nvPicPr>
          <p:cNvPr id="429" name="Google Shape;4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188" y="2786125"/>
            <a:ext cx="6143625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Evaluation Metrics</a:t>
            </a:r>
            <a:endParaRPr/>
          </a:p>
        </p:txBody>
      </p:sp>
      <p:sp>
        <p:nvSpPr>
          <p:cNvPr id="436" name="Google Shape;436;p32"/>
          <p:cNvSpPr txBox="1"/>
          <p:nvPr>
            <p:ph idx="1" type="body"/>
          </p:nvPr>
        </p:nvSpPr>
        <p:spPr>
          <a:xfrm>
            <a:off x="1303800" y="1428050"/>
            <a:ext cx="7030500" cy="3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Classification Models Performance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Highest accuracy with Random Forest (79.34%).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K-Nearest Neighbors (KNN) had balanced recall but lower accuracy (78.47%).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Support Vector Machine and Logistic Regression struggled with Medium-lived class.</a:t>
            </a:r>
            <a:endParaRPr/>
          </a:p>
        </p:txBody>
      </p:sp>
      <p:pic>
        <p:nvPicPr>
          <p:cNvPr id="437" name="Google Shape;43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913" y="2804688"/>
            <a:ext cx="59721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Analysis and Challenges</a:t>
            </a:r>
            <a:endParaRPr/>
          </a:p>
        </p:txBody>
      </p:sp>
      <p:sp>
        <p:nvSpPr>
          <p:cNvPr id="444" name="Google Shape;444;p33"/>
          <p:cNvSpPr txBox="1"/>
          <p:nvPr>
            <p:ph idx="1" type="body"/>
          </p:nvPr>
        </p:nvSpPr>
        <p:spPr>
          <a:xfrm>
            <a:off x="1303800" y="1428050"/>
            <a:ext cx="7030500" cy="3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en-GB"/>
              <a:t>Data Limitations</a:t>
            </a:r>
            <a:r>
              <a:rPr lang="en-GB"/>
              <a:t>: Lack of critical data like mass and radar cross-section (RCS).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en-GB"/>
              <a:t>Domain Complexity</a:t>
            </a:r>
            <a:r>
              <a:rPr lang="en-GB"/>
              <a:t>: Space debris decay influenced by complex physics.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en-GB"/>
              <a:t>Class Imbalance</a:t>
            </a:r>
            <a:r>
              <a:rPr lang="en-GB"/>
              <a:t>: Medium-lived class hardest to predict due to fewer samples.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en-GB"/>
              <a:t>Model Selection</a:t>
            </a:r>
            <a:r>
              <a:rPr lang="en-GB"/>
              <a:t>: Ensemble and instance-based models like Random Forest and KNN handled non-linear decay patterns best</a:t>
            </a:r>
            <a:endParaRPr/>
          </a:p>
        </p:txBody>
      </p:sp>
      <p:pic>
        <p:nvPicPr>
          <p:cNvPr id="445" name="Google Shape;4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499" y="2721175"/>
            <a:ext cx="4095477" cy="24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Improvement</a:t>
            </a:r>
            <a:endParaRPr/>
          </a:p>
        </p:txBody>
      </p:sp>
      <p:sp>
        <p:nvSpPr>
          <p:cNvPr id="452" name="Google Shape;452;p34"/>
          <p:cNvSpPr txBox="1"/>
          <p:nvPr>
            <p:ph idx="1" type="body"/>
          </p:nvPr>
        </p:nvSpPr>
        <p:spPr>
          <a:xfrm>
            <a:off x="1303800" y="1428050"/>
            <a:ext cx="7030500" cy="3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Proposed Idea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Build a mathematical model that predicts decay of a space object based on altitude (100 km as threshold).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Build a learning dataset with precise decay dates from a simulated scenario.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Train a Neural Network on this learning database. (RNN, LSTM, etc)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Fine tune on the real-time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Simulation Information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20 Satellites, 400 data instances, 27 known debris.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Known values of cross-sectional area, reflective index and mass.</a:t>
            </a:r>
            <a:endParaRPr/>
          </a:p>
        </p:txBody>
      </p:sp>
      <p:sp>
        <p:nvSpPr>
          <p:cNvPr id="453" name="Google Shape;453;p3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</a:t>
            </a:r>
            <a:r>
              <a:rPr lang="en-GB"/>
              <a:t>YOU</a:t>
            </a:r>
            <a:endParaRPr/>
          </a:p>
        </p:txBody>
      </p:sp>
      <p:sp>
        <p:nvSpPr>
          <p:cNvPr id="459" name="Google Shape;459;p3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